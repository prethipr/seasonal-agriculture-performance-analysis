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47" r:id="rId8"/>
    <p:sldId id="329" r:id="rId9"/>
    <p:sldId id="302" r:id="rId10"/>
    <p:sldId id="348" r:id="rId11"/>
    <p:sldId id="339" r:id="rId12"/>
    <p:sldId id="350" r:id="rId13"/>
    <p:sldId id="349" r:id="rId14"/>
    <p:sldId id="352" r:id="rId15"/>
    <p:sldId id="351" r:id="rId16"/>
    <p:sldId id="341" r:id="rId17"/>
    <p:sldId id="353" r:id="rId18"/>
    <p:sldId id="342" r:id="rId19"/>
    <p:sldId id="34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7" d="100"/>
          <a:sy n="77" d="100"/>
        </p:scale>
        <p:origin x="414" y="9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ethipR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7232" y="4002024"/>
            <a:ext cx="5525771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Name: PRETHIP R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Name: </a:t>
            </a:r>
            <a:r>
              <a:rPr lang="en-US" b="0" dirty="0" err="1">
                <a:solidFill>
                  <a:schemeClr val="tx1"/>
                </a:solidFill>
              </a:rPr>
              <a:t>Hindusthan</a:t>
            </a:r>
            <a:r>
              <a:rPr lang="en-US" b="0" dirty="0">
                <a:solidFill>
                  <a:schemeClr val="tx1"/>
                </a:solidFill>
              </a:rPr>
              <a:t> College Of Arts and Science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791" y="2186431"/>
            <a:ext cx="8085242" cy="103831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 </a:t>
            </a:r>
            <a:r>
              <a:rPr lang="en-IN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5887232" y="3224749"/>
            <a:ext cx="2836985" cy="589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Major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887232" y="5050892"/>
            <a:ext cx="552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i="0" dirty="0">
                <a:effectLst/>
              </a:rPr>
              <a:t>STU6982ba026d94e1770174978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sz="2500" dirty="0">
                <a:solidFill>
                  <a:schemeClr val="tx1"/>
                </a:solidFill>
              </a:rPr>
              <a:t>Agricultural performance changes across seasons because of environmental conditions, farming practices, resource availability and market conditions.</a:t>
            </a:r>
          </a:p>
          <a:p>
            <a:pPr>
              <a:spcAft>
                <a:spcPts val="1400"/>
              </a:spcAft>
              <a:defRPr sz="2000"/>
            </a:pPr>
            <a:r>
              <a:rPr lang="en-US" sz="2500" dirty="0">
                <a:solidFill>
                  <a:schemeClr val="tx1"/>
                </a:solidFill>
              </a:rPr>
              <a:t>This project analyzes the agricultural dataset to identify seasonal differences, trends, relationships and variations in agricultural performance.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Objectives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620582-0511-4FC9-A8C4-B5E34A756317}"/>
              </a:ext>
            </a:extLst>
          </p:cNvPr>
          <p:cNvSpPr txBox="1"/>
          <p:nvPr/>
        </p:nvSpPr>
        <p:spPr>
          <a:xfrm>
            <a:off x="675957" y="2133600"/>
            <a:ext cx="8468043" cy="413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Explore and understand the agricultural dataset.</a:t>
            </a:r>
          </a:p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Clean and prepare the data for analysis.</a:t>
            </a:r>
          </a:p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Compare agricultural performance across seasons.</a:t>
            </a:r>
          </a:p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Identify seasonal patterns and trends.</a:t>
            </a:r>
          </a:p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Study relationships between conditions and outcomes.</a:t>
            </a:r>
          </a:p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Develop evidence-based conclusions and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6E3685-3255-4D92-9F70-A7A86B71FD5F}"/>
              </a:ext>
            </a:extLst>
          </p:cNvPr>
          <p:cNvSpPr txBox="1"/>
          <p:nvPr/>
        </p:nvSpPr>
        <p:spPr>
          <a:xfrm>
            <a:off x="660399" y="1856774"/>
            <a:ext cx="8608720" cy="314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pPr>
            <a:r>
              <a:rPr lang="en-US" sz="2500" dirty="0"/>
              <a:t>The project analyzes agricultural activities across different seasons, crops and geographical areas.</a:t>
            </a:r>
          </a:p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pPr>
            <a:r>
              <a:rPr lang="en-US" sz="2500" dirty="0"/>
              <a:t>Key areas include crop yield, production, revenue, cost, profit, water usage, environmental conditions and disease/pest risk.</a:t>
            </a:r>
          </a:p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pPr>
            <a:r>
              <a:rPr lang="en-US" sz="2500" dirty="0"/>
              <a:t>Python-based data cleaning, statistical analysis and visualization are used to generate meaningful insights.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9365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400"/>
              </a:spcAft>
              <a:defRPr sz="1700"/>
            </a:pPr>
            <a:r>
              <a:rPr lang="en-US" sz="2700" dirty="0">
                <a:solidFill>
                  <a:schemeClr val="tx1"/>
                </a:solidFill>
              </a:rPr>
              <a:t>Farmers</a:t>
            </a:r>
          </a:p>
          <a:p>
            <a:pPr>
              <a:spcAft>
                <a:spcPts val="1400"/>
              </a:spcAft>
              <a:defRPr sz="1700"/>
            </a:pPr>
            <a:r>
              <a:rPr lang="en-US" sz="2700" dirty="0">
                <a:solidFill>
                  <a:schemeClr val="tx1"/>
                </a:solidFill>
              </a:rPr>
              <a:t>Agricultural Planners</a:t>
            </a:r>
          </a:p>
          <a:p>
            <a:pPr>
              <a:spcAft>
                <a:spcPts val="1400"/>
              </a:spcAft>
              <a:defRPr sz="1700"/>
            </a:pPr>
            <a:r>
              <a:rPr lang="en-US" sz="2700" dirty="0">
                <a:solidFill>
                  <a:schemeClr val="tx1"/>
                </a:solidFill>
              </a:rPr>
              <a:t>Agricultural Researchers</a:t>
            </a:r>
          </a:p>
          <a:p>
            <a:pPr>
              <a:spcAft>
                <a:spcPts val="1400"/>
              </a:spcAft>
              <a:defRPr sz="1700"/>
            </a:pPr>
            <a:r>
              <a:rPr lang="en-US" sz="2700" dirty="0">
                <a:solidFill>
                  <a:schemeClr val="tx1"/>
                </a:solidFill>
              </a:rPr>
              <a:t>Government Departments</a:t>
            </a:r>
          </a:p>
          <a:p>
            <a:pPr>
              <a:spcAft>
                <a:spcPts val="1400"/>
              </a:spcAft>
              <a:defRPr sz="1700"/>
            </a:pPr>
            <a:r>
              <a:rPr lang="en-US" sz="2700" dirty="0">
                <a:solidFill>
                  <a:schemeClr val="tx1"/>
                </a:solidFill>
              </a:rPr>
              <a:t>Agricultural Organizations</a:t>
            </a:r>
          </a:p>
          <a:p>
            <a:pPr>
              <a:spcAft>
                <a:spcPts val="1400"/>
              </a:spcAft>
              <a:defRPr sz="1700"/>
            </a:pPr>
            <a:r>
              <a:rPr lang="en-US" sz="2700" dirty="0">
                <a:solidFill>
                  <a:schemeClr val="tx1"/>
                </a:solidFill>
              </a:rPr>
              <a:t>Data Analysts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432560"/>
            <a:ext cx="7640320" cy="524344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700"/>
            </a:pPr>
            <a:r>
              <a:rPr lang="en-IN" sz="2500" dirty="0">
                <a:solidFill>
                  <a:schemeClr val="tx1"/>
                </a:solidFill>
              </a:rPr>
              <a:t>Python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700"/>
            </a:pPr>
            <a:r>
              <a:rPr lang="en-IN" sz="2500" dirty="0" err="1">
                <a:solidFill>
                  <a:schemeClr val="tx1"/>
                </a:solidFill>
              </a:rPr>
              <a:t>Jupyter</a:t>
            </a:r>
            <a:r>
              <a:rPr lang="en-IN" sz="2500" dirty="0">
                <a:solidFill>
                  <a:schemeClr val="tx1"/>
                </a:solidFill>
              </a:rPr>
              <a:t> Notebook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700"/>
            </a:pPr>
            <a:r>
              <a:rPr lang="en-IN" sz="2500" dirty="0">
                <a:solidFill>
                  <a:schemeClr val="tx1"/>
                </a:solidFill>
              </a:rPr>
              <a:t>Pandas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700"/>
            </a:pPr>
            <a:r>
              <a:rPr lang="en-IN" sz="2500" dirty="0">
                <a:solidFill>
                  <a:schemeClr val="tx1"/>
                </a:solidFill>
              </a:rPr>
              <a:t>NumPy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700"/>
            </a:pPr>
            <a:r>
              <a:rPr lang="en-IN" sz="2500" dirty="0">
                <a:solidFill>
                  <a:schemeClr val="tx1"/>
                </a:solidFill>
              </a:rPr>
              <a:t>Matplotlib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700"/>
            </a:pPr>
            <a:r>
              <a:rPr lang="en-IN" sz="2500" dirty="0">
                <a:solidFill>
                  <a:schemeClr val="tx1"/>
                </a:solidFill>
              </a:rPr>
              <a:t>Seaborn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8" y="1991360"/>
            <a:ext cx="10227995" cy="3990023"/>
          </a:xfrm>
        </p:spPr>
        <p:txBody>
          <a:bodyPr>
            <a:normAutofit/>
          </a:bodyPr>
          <a:lstStyle/>
          <a:p>
            <a:pPr marL="0" indent="0">
              <a:spcAft>
                <a:spcPts val="1400"/>
              </a:spcAft>
              <a:buNone/>
              <a:defRPr sz="2000"/>
            </a:pPr>
            <a:r>
              <a:rPr lang="en-IN" sz="2500" dirty="0">
                <a:solidFill>
                  <a:schemeClr val="tx1"/>
                </a:solidFill>
              </a:rPr>
              <a:t>Dataset Loading → Data Exploration → Data Cleaning → Exploratory Data Analysis → Seasonal Analysis → Crop/Regional Analysis → Correlation Analysis → Visualization → Findings → Recommendations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>
              <a:defRPr sz="2800" b="1"/>
            </a:pPr>
            <a:r>
              <a:rPr lang="en-IN" sz="3200" dirty="0"/>
              <a:t>DATA ANALYSIS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6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047120" cy="830997"/>
          </a:xfrm>
        </p:spPr>
        <p:txBody>
          <a:bodyPr>
            <a:normAutofit/>
          </a:bodyPr>
          <a:lstStyle/>
          <a:p>
            <a:r>
              <a:rPr lang="en-GB" dirty="0"/>
              <a:t>RESULTS – Seasonal Yield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23554-C4EC-46D0-B039-CCEE04BE8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80155"/>
            <a:ext cx="6206547" cy="4302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8D7D22-13BA-4174-ADA9-6EBC1F85D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504" y="1284940"/>
            <a:ext cx="5010849" cy="4302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52ADDD-D036-4290-AF68-A275C5A80853}"/>
              </a:ext>
            </a:extLst>
          </p:cNvPr>
          <p:cNvSpPr txBox="1"/>
          <p:nvPr/>
        </p:nvSpPr>
        <p:spPr>
          <a:xfrm>
            <a:off x="1101969" y="5706666"/>
            <a:ext cx="10791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Key insight: Kharif recorded the highest average yield in the analyzed dataset.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047120" cy="830997"/>
          </a:xfrm>
        </p:spPr>
        <p:txBody>
          <a:bodyPr>
            <a:normAutofit/>
          </a:bodyPr>
          <a:lstStyle/>
          <a:p>
            <a:r>
              <a:rPr lang="en-GB" dirty="0"/>
              <a:t>RESULTS – Seasonal Profit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23554-C4EC-46D0-B039-CCEE04BE83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957" y="1416836"/>
            <a:ext cx="6206547" cy="4029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52ADDD-D036-4290-AF68-A275C5A80853}"/>
              </a:ext>
            </a:extLst>
          </p:cNvPr>
          <p:cNvSpPr txBox="1"/>
          <p:nvPr/>
        </p:nvSpPr>
        <p:spPr>
          <a:xfrm>
            <a:off x="1101969" y="5706666"/>
            <a:ext cx="10791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sz="2500" dirty="0"/>
              <a:t>Key insight: Kharif showed the strongest average profitability, while Zaid showed negative average profit.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F7259D-916B-4ED4-9786-0C27EAB7B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754" y="1275370"/>
            <a:ext cx="4820323" cy="417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7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047120" cy="830997"/>
          </a:xfrm>
        </p:spPr>
        <p:txBody>
          <a:bodyPr>
            <a:normAutofit/>
          </a:bodyPr>
          <a:lstStyle/>
          <a:p>
            <a:r>
              <a:rPr lang="en-GB" dirty="0"/>
              <a:t>RESULTS – Water Efficiency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23554-C4EC-46D0-B039-CCEE04BE83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957" y="1280155"/>
            <a:ext cx="6206546" cy="4302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52ADDD-D036-4290-AF68-A275C5A80853}"/>
              </a:ext>
            </a:extLst>
          </p:cNvPr>
          <p:cNvSpPr txBox="1"/>
          <p:nvPr/>
        </p:nvSpPr>
        <p:spPr>
          <a:xfrm>
            <a:off x="1101969" y="5706666"/>
            <a:ext cx="10791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sz="2500" dirty="0"/>
              <a:t>Key insight: Water-use efficiency varies by season and should be considered in agricultural planning.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96EDCC-2C2F-40F7-B349-E7BD4E0D9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503" y="1201585"/>
            <a:ext cx="4840573" cy="430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0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047120" cy="830997"/>
          </a:xfrm>
        </p:spPr>
        <p:txBody>
          <a:bodyPr>
            <a:noAutofit/>
          </a:bodyPr>
          <a:lstStyle/>
          <a:p>
            <a:r>
              <a:rPr lang="en-GB" sz="4400" dirty="0"/>
              <a:t>RESULTS – </a:t>
            </a:r>
            <a:r>
              <a:rPr lang="en-IN" sz="4400" dirty="0"/>
              <a:t>Crop and Season Comparison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23554-C4EC-46D0-B039-CCEE04BE83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956" y="1714809"/>
            <a:ext cx="6206547" cy="3615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52ADDD-D036-4290-AF68-A275C5A80853}"/>
              </a:ext>
            </a:extLst>
          </p:cNvPr>
          <p:cNvSpPr txBox="1"/>
          <p:nvPr/>
        </p:nvSpPr>
        <p:spPr>
          <a:xfrm>
            <a:off x="1101969" y="5706666"/>
            <a:ext cx="10791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sz="2500" dirty="0"/>
              <a:t>Key insight: Punjab showed the highest average yield and profitability in the dataset.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96EDCC-2C2F-40F7-B349-E7BD4E0D91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37477" y="1577915"/>
            <a:ext cx="4485599" cy="37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3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047120" cy="830997"/>
          </a:xfrm>
        </p:spPr>
        <p:txBody>
          <a:bodyPr>
            <a:normAutofit/>
          </a:bodyPr>
          <a:lstStyle/>
          <a:p>
            <a:r>
              <a:rPr lang="en-GB" dirty="0"/>
              <a:t>RESULTS – </a:t>
            </a:r>
            <a:r>
              <a:rPr lang="en-IN" dirty="0"/>
              <a:t>Crop Performance Analysis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23554-C4EC-46D0-B039-CCEE04BE83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956" y="1541090"/>
            <a:ext cx="6206547" cy="39629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52ADDD-D036-4290-AF68-A275C5A80853}"/>
              </a:ext>
            </a:extLst>
          </p:cNvPr>
          <p:cNvSpPr txBox="1"/>
          <p:nvPr/>
        </p:nvSpPr>
        <p:spPr>
          <a:xfrm>
            <a:off x="1101969" y="5706666"/>
            <a:ext cx="10791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rPr lang="en-US" sz="2500" dirty="0"/>
              <a:t>Key insight: Sugarcane showed the highest average yield and profitability in the dataset.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96EDCC-2C2F-40F7-B349-E7BD4E0D91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37477" y="1404196"/>
            <a:ext cx="4485599" cy="409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2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48C1A9-4A7D-4EE8-9613-7E5AA185CF9E}"/>
              </a:ext>
            </a:extLst>
          </p:cNvPr>
          <p:cNvSpPr txBox="1"/>
          <p:nvPr/>
        </p:nvSpPr>
        <p:spPr>
          <a:xfrm>
            <a:off x="675957" y="1735015"/>
            <a:ext cx="8913520" cy="431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Real-time agricultural monitoring dashboard.</a:t>
            </a:r>
          </a:p>
          <a:p>
            <a:pPr marL="285750" indent="-28575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Weather forecast integration.</a:t>
            </a:r>
          </a:p>
          <a:p>
            <a:pPr marL="285750" indent="-28575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Machine-learning-based yield prediction.</a:t>
            </a:r>
          </a:p>
          <a:p>
            <a:pPr marL="285750" indent="-28575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Disease and pest risk prediction.</a:t>
            </a:r>
          </a:p>
          <a:p>
            <a:pPr marL="285750" indent="-28575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Crop recommendation system.</a:t>
            </a:r>
          </a:p>
          <a:p>
            <a:pPr marL="285750" indent="-28575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Market-price analysis.</a:t>
            </a:r>
          </a:p>
          <a:p>
            <a:pPr marL="285750" indent="-28575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1700"/>
            </a:pPr>
            <a:r>
              <a:rPr lang="en-US" sz="2500" dirty="0"/>
              <a:t>Satellite, soil and remote-sensing data integration.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Conclusion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48C1A9-4A7D-4EE8-9613-7E5AA185CF9E}"/>
              </a:ext>
            </a:extLst>
          </p:cNvPr>
          <p:cNvSpPr txBox="1"/>
          <p:nvPr/>
        </p:nvSpPr>
        <p:spPr>
          <a:xfrm>
            <a:off x="675957" y="1735015"/>
            <a:ext cx="8913520" cy="3036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pPr>
            <a:r>
              <a:rPr lang="en-US" sz="2500" dirty="0"/>
              <a:t>Seasonal analysis provides useful insights into agricultural yield, profitability, resource usage and environmental conditions.</a:t>
            </a:r>
          </a:p>
          <a:p>
            <a:pPr marL="342900" indent="-342900">
              <a:spcAft>
                <a:spcPts val="1400"/>
              </a:spcAft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pPr>
            <a:r>
              <a:rPr lang="en-US" sz="2500" dirty="0"/>
              <a:t>The findings can help stakeholders understand seasonal patterns and make more informed agricultural planning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53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2179356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https://github.com/PrethipR/Seasonal-Agriculture-Performance-Analysis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26073E-A3DB-498E-908F-54F6B70BB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38" y="1390825"/>
            <a:ext cx="10274871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62458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1493</TotalTime>
  <Words>423</Words>
  <Application>Microsoft Office PowerPoint</Application>
  <PresentationFormat>Widescreen</PresentationFormat>
  <Paragraphs>63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Objectives </vt:lpstr>
      <vt:lpstr>Project Description </vt:lpstr>
      <vt:lpstr>WHO ARE THE END USERS?</vt:lpstr>
      <vt:lpstr>Technology Used</vt:lpstr>
      <vt:lpstr>DATA ANALYSIS WORKFLOW</vt:lpstr>
      <vt:lpstr>RESULTS – Seasonal Yield</vt:lpstr>
      <vt:lpstr>RESULTS – Seasonal Profit</vt:lpstr>
      <vt:lpstr>RESULTS – Water Efficiency</vt:lpstr>
      <vt:lpstr>RESULTS – Crop and Season Comparison</vt:lpstr>
      <vt:lpstr>RESULTS – Crop Performance Analysis</vt:lpstr>
      <vt:lpstr>Future scope</vt:lpstr>
      <vt:lpstr>Conclusion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Prethip R</cp:lastModifiedBy>
  <cp:revision>111</cp:revision>
  <dcterms:created xsi:type="dcterms:W3CDTF">2021-07-11T13:13:15Z</dcterms:created>
  <dcterms:modified xsi:type="dcterms:W3CDTF">2026-09-08T10:50:47Z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